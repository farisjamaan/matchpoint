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10693400" cy="7561263"/>
  <p:notesSz cx="6731000" cy="985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orient="horz" pos="797">
          <p15:clr>
            <a:srgbClr val="A4A3A4"/>
          </p15:clr>
        </p15:guide>
        <p15:guide id="3" orient="horz" pos="1585">
          <p15:clr>
            <a:srgbClr val="A4A3A4"/>
          </p15:clr>
        </p15:guide>
        <p15:guide id="4" pos="392">
          <p15:clr>
            <a:srgbClr val="A4A3A4"/>
          </p15:clr>
        </p15:guide>
        <p15:guide id="5" pos="6584">
          <p15:clr>
            <a:srgbClr val="A4A3A4"/>
          </p15:clr>
        </p15:guide>
        <p15:guide id="6" pos="4432">
          <p15:clr>
            <a:srgbClr val="A4A3A4"/>
          </p15:clr>
        </p15:guide>
        <p15:guide id="7" pos="6355">
          <p15:clr>
            <a:srgbClr val="A4A3A4"/>
          </p15:clr>
        </p15:guide>
        <p15:guide id="8" pos="2308">
          <p15:clr>
            <a:srgbClr val="A4A3A4"/>
          </p15:clr>
        </p15:guide>
        <p15:guide id="9" pos="2414">
          <p15:clr>
            <a:srgbClr val="A4A3A4"/>
          </p15:clr>
        </p15:guide>
        <p15:guide id="10" pos="4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4">
          <p15:clr>
            <a:srgbClr val="A4A3A4"/>
          </p15:clr>
        </p15:guide>
        <p15:guide id="2" pos="2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33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6388" autoAdjust="0"/>
    <p:restoredTop sz="94660"/>
  </p:normalViewPr>
  <p:slideViewPr>
    <p:cSldViewPr>
      <p:cViewPr varScale="1">
        <p:scale>
          <a:sx n="95" d="100"/>
          <a:sy n="95" d="100"/>
        </p:scale>
        <p:origin x="2286" y="90"/>
      </p:cViewPr>
      <p:guideLst>
        <p:guide orient="horz" pos="232"/>
        <p:guide orient="horz" pos="797"/>
        <p:guide orient="horz" pos="1585"/>
        <p:guide pos="392"/>
        <p:guide pos="6584"/>
        <p:guide pos="4432"/>
        <p:guide pos="6355"/>
        <p:guide pos="2308"/>
        <p:guide pos="2414"/>
        <p:guide pos="432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88" y="-90"/>
      </p:cViewPr>
      <p:guideLst>
        <p:guide orient="horz" pos="3104"/>
        <p:guide pos="21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7DC1266-84EF-4BB9-AC61-3725FA4A5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0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2475" y="739775"/>
            <a:ext cx="522605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1538"/>
            <a:ext cx="5383212" cy="443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FA51F0D-3820-4836-BED1-0D06DBCBB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49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1E85D-5E57-4D55-8AAE-C97F24AAF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4CB4E-7F4C-4750-8CA4-1FAFB2D39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81BCD-D44F-47C1-8F59-FDD2D4C61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404938"/>
            <a:ext cx="4656137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9725" y="1404938"/>
            <a:ext cx="4656138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6A8DC-D751-412B-8874-2E219B795A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3213"/>
            <a:ext cx="9623425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8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2C11A-37A5-4794-841B-95CEB12C8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D152D-FFED-4E3F-B320-CAD97AA61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3DEA-536E-4CB3-89D0-C8E1A5D9E4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BE9A2-7E65-4115-81B9-6E7BE7C9D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41952-34B0-46C5-A980-E862FCFBF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56BCF-FF2D-4050-BDC7-A97D84A60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10488" y="373063"/>
            <a:ext cx="2365375" cy="6430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73063"/>
            <a:ext cx="6946900" cy="6430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FC427-E3EB-456A-9992-7DF9B46C20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32225" y="373063"/>
            <a:ext cx="6243638" cy="89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Headline 1 (Interstate 24pt)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11188" y="1404938"/>
            <a:ext cx="9464675" cy="539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72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 (Interstate 10pt)</a:t>
            </a:r>
          </a:p>
          <a:p>
            <a:pPr lvl="1"/>
            <a:r>
              <a:rPr lang="en-US"/>
              <a:t>Headline 2 (Interstate bold 14pt)</a:t>
            </a:r>
          </a:p>
          <a:p>
            <a:pPr lvl="3"/>
            <a:r>
              <a:rPr lang="en-US"/>
              <a:t>Bullet 1 (Interstate 10pt)</a:t>
            </a:r>
          </a:p>
          <a:p>
            <a:pPr lvl="4"/>
            <a:r>
              <a:rPr lang="en-US"/>
              <a:t>Bullet 2 (Interstate 10pt)</a:t>
            </a:r>
          </a:p>
          <a:p>
            <a:pPr lvl="2"/>
            <a:r>
              <a:rPr lang="en-US"/>
              <a:t>Headline 3 (Interstate bold 12pt)</a:t>
            </a:r>
          </a:p>
        </p:txBody>
      </p:sp>
      <p:sp>
        <p:nvSpPr>
          <p:cNvPr id="20502" name="Rectangle 2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833813" y="7065963"/>
            <a:ext cx="5437187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buClr>
                <a:srgbClr val="7F7E82"/>
              </a:buClr>
              <a:buFont typeface="EYInterstate" pitchFamily="2" charset="0"/>
              <a:buNone/>
              <a:defRPr sz="7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20503" name="Rectangle 23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9402763" y="7065963"/>
            <a:ext cx="673100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>
              <a:buClr>
                <a:srgbClr val="7F7E82"/>
              </a:buClr>
              <a:buFont typeface="EYInterstate" pitchFamily="2" charset="0"/>
              <a:buNone/>
              <a:defRPr sz="70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fld id="{383F8ED6-4694-40B3-88EF-B7562E9CD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dt="0"/>
  <p:txStyles>
    <p:titleStyle>
      <a:lvl1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2pPr>
      <a:lvl3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3pPr>
      <a:lvl4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4pPr>
      <a:lvl5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5pPr>
      <a:lvl6pPr marL="4572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6pPr>
      <a:lvl7pPr marL="9144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7pPr>
      <a:lvl8pPr marL="13716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8pPr>
      <a:lvl9pPr marL="18288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9pPr>
    </p:titleStyle>
    <p:bodyStyle>
      <a:lvl1pPr marL="342900" indent="-342900" algn="l" defTabSz="995363" rtl="0" eaLnBrk="0" fontAlgn="base" hangingPunct="0">
        <a:spcBef>
          <a:spcPct val="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1588" indent="455613" algn="l" defTabSz="995363" rtl="0" eaLnBrk="0" fontAlgn="base" hangingPunct="0">
        <a:spcBef>
          <a:spcPct val="2000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500" b="1">
          <a:solidFill>
            <a:schemeClr val="tx2"/>
          </a:solidFill>
          <a:latin typeface="+mn-lt"/>
          <a:cs typeface="+mn-cs"/>
        </a:defRPr>
      </a:lvl2pPr>
      <a:lvl3pPr marL="3175" indent="911225" algn="l" defTabSz="995363" rtl="0" eaLnBrk="0" fontAlgn="base" hangingPunct="0">
        <a:spcBef>
          <a:spcPct val="20000"/>
        </a:spcBef>
        <a:spcAft>
          <a:spcPct val="40000"/>
        </a:spcAft>
        <a:buClr>
          <a:schemeClr val="tx2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300" b="1">
          <a:solidFill>
            <a:schemeClr val="accent1"/>
          </a:solidFill>
          <a:latin typeface="+mn-lt"/>
          <a:cs typeface="+mn-cs"/>
        </a:defRPr>
      </a:lvl3pPr>
      <a:lvl4pPr marL="190500" indent="-1857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4pPr>
      <a:lvl5pPr marL="352425" indent="-1603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5pPr>
      <a:lvl6pPr marL="8096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6pPr>
      <a:lvl7pPr marL="12668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7pPr>
      <a:lvl8pPr marL="17240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8pPr>
      <a:lvl9pPr marL="21812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2913" y="1208088"/>
            <a:ext cx="9652000" cy="1429543"/>
          </a:xfrm>
          <a:prstGeom prst="rect">
            <a:avLst/>
          </a:prstGeom>
          <a:solidFill>
            <a:srgbClr val="FFE6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7031038" y="2974330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Evaluated and selected vector database solutions based on scalability, latency, and security requirements.</a:t>
            </a:r>
          </a:p>
          <a:p>
            <a:r>
              <a:rPr sz="1200"/>
              <a:t>Implemented prompt engineering best practices to improve the accuracy and reliability of LLM outputs.</a:t>
            </a:r>
          </a:p>
          <a:p>
            <a:r>
              <a:rPr sz="1200"/>
              <a:t>Managed a cross-functional team of developers and data scientists to deliver a production-ready AI assistant.</a:t>
            </a:r>
          </a:p>
          <a:p>
            <a:r>
              <a:rPr sz="1200"/>
              <a:t>Presented AI feasibility studies and business cases to investment committees for project funding.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601663" y="2974330"/>
            <a:ext cx="30607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 dirty="0"/>
          </a:p>
          <a:p>
            <a:r>
              <a:rPr sz="1200" dirty="0"/>
              <a:t>Layla is a Senior Consultant specializing in Generative AI and Retrieval-Augmented Generation (RAG) for Financial Services.</a:t>
            </a:r>
          </a:p>
          <a:p>
            <a:r>
              <a:rPr sz="1200" dirty="0"/>
              <a:t>She leads the design and implementation of enterprise AI assistants and knowledge management systems.</a:t>
            </a:r>
          </a:p>
          <a:p>
            <a:r>
              <a:rPr sz="1200" dirty="0"/>
              <a:t>Layla holds an MBA from INSEAD and a BSc in Computer Engineering from Cairo University.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816350" y="2974330"/>
            <a:ext cx="305435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Led the delivery of a RAG-based internal knowledge assistant for a global investment bank, reducing search time by 70%.</a:t>
            </a:r>
          </a:p>
          <a:p>
            <a:r>
              <a:rPr sz="1200"/>
              <a:t>Designed a Generative AI strategy for a regional insurance company, identifying 15+ high-impact use cases.</a:t>
            </a:r>
          </a:p>
          <a:p>
            <a:r>
              <a:rPr sz="1200"/>
              <a:t>Developed a custom AI agent for automated financial report summarization and sentiment analysis.</a:t>
            </a:r>
          </a:p>
          <a:p>
            <a:r>
              <a:rPr sz="1200"/>
              <a:t>Facilitated workshops with C-suite executives to define AI governance and ethical guidelines.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93725" y="1311275"/>
            <a:ext cx="719138" cy="935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72000" rIns="72000" anchor="ctr"/>
          <a:lstStyle/>
          <a:p>
            <a:pPr algn="ctr" defTabSz="995363">
              <a:lnSpc>
                <a:spcPts val="1400"/>
              </a:lnSpc>
            </a:pPr>
            <a:br>
              <a:rPr lang="en-US" sz="800" dirty="0">
                <a:solidFill>
                  <a:srgbClr val="FF0000"/>
                </a:solidFill>
                <a:latin typeface="EYInterstate Regular" pitchFamily="-16" charset="0"/>
              </a:rPr>
            </a:br>
            <a:endParaRPr lang="en-US" sz="800" dirty="0">
              <a:solidFill>
                <a:srgbClr val="FF0000"/>
              </a:solidFill>
              <a:latin typeface="EYInterstate Regular" pitchFamily="-16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644799" y="1460877"/>
            <a:ext cx="220027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b="1" dirty="0">
                <a:solidFill>
                  <a:srgbClr val="FF0000"/>
                </a:solidFill>
                <a:latin typeface="+mn-lt"/>
              </a:rPr>
              <a:t>Layla Mahmoud</a:t>
            </a:r>
          </a:p>
          <a:p>
            <a:pPr defTabSz="995363">
              <a:tabLst>
                <a:tab pos="442913" algn="l"/>
              </a:tabLst>
            </a:pPr>
            <a:r>
              <a:rPr lang="en-US" sz="1100">
                <a:solidFill>
                  <a:srgbClr val="FF0000"/>
                </a:solidFill>
                <a:latin typeface="+mn-lt"/>
              </a:rPr>
              <a:t>Director</a:t>
            </a:r>
            <a:endParaRPr lang="en-US" sz="11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648605" y="1918077"/>
            <a:ext cx="263129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Mobile: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  <a:sym typeface="Arial Unicode MS" pitchFamily="34" charset="-128"/>
              </a:rPr>
              <a:t>+971(0) 50 555 6666</a:t>
            </a:r>
            <a:endParaRPr lang="en-US" sz="1100" dirty="0">
              <a:solidFill>
                <a:srgbClr val="FF0000"/>
              </a:solidFill>
              <a:latin typeface="EYInterstate Light" pitchFamily="2" charset="0"/>
            </a:endParaRPr>
          </a:p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Email:	 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</a:rPr>
              <a:t>layla.mahmoud@ae.ey.com</a:t>
            </a:r>
            <a:r>
              <a:rPr lang="en-US" sz="1100" dirty="0">
                <a:solidFill>
                  <a:srgbClr val="000000"/>
                </a:solidFill>
                <a:latin typeface="EYInterstate" pitchFamily="2" charset="0"/>
              </a:rPr>
              <a:t> </a:t>
            </a: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gray">
          <a:xfrm>
            <a:off x="622300" y="2743993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Background</a:t>
            </a: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gray">
          <a:xfrm>
            <a:off x="3827463" y="2743993"/>
            <a:ext cx="30400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Professional experience</a:t>
            </a: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gray">
          <a:xfrm>
            <a:off x="622300" y="4695031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Skills</a:t>
            </a: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601663" y="4979987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SzPct val="100000"/>
              <a:buFont typeface="Arial" pitchFamily="34" charset="0"/>
              <a:buChar char="►"/>
              <a:tabLst>
                <a:tab pos="269875" algn="l"/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Generative AI: LLMs (GPT-4, Claude, Llama), Prompt Engineering</a:t>
            </a:r>
          </a:p>
          <a:p>
            <a:r>
              <a:rPr sz="1200"/>
              <a:t>RAG Architecture: LangChain, LlamaIndex, Vector Databases (Pinecone, Milvus)</a:t>
            </a:r>
          </a:p>
          <a:p>
            <a:r>
              <a:rPr sz="1200"/>
              <a:t>AI Agent development and tool calling frameworks</a:t>
            </a:r>
          </a:p>
          <a:p>
            <a:r>
              <a:rPr sz="1200"/>
              <a:t>Model fine-tuning vs. inference-only strategy development</a:t>
            </a:r>
          </a:p>
          <a:p>
            <a:r>
              <a:rPr sz="1200"/>
              <a:t>Use-case prioritization and AI roadmap design</a:t>
            </a:r>
          </a:p>
          <a:p>
            <a:r>
              <a:rPr sz="1200"/>
              <a:t>Stakeholder management and executive communication</a:t>
            </a:r>
          </a:p>
        </p:txBody>
      </p:sp>
      <p:grpSp>
        <p:nvGrpSpPr>
          <p:cNvPr id="3086" name="Group 14"/>
          <p:cNvGrpSpPr>
            <a:grpSpLocks/>
          </p:cNvGrpSpPr>
          <p:nvPr/>
        </p:nvGrpSpPr>
        <p:grpSpPr bwMode="auto">
          <a:xfrm>
            <a:off x="622300" y="3095625"/>
            <a:ext cx="9442450" cy="3698875"/>
            <a:chOff x="392" y="1950"/>
            <a:chExt cx="5948" cy="2330"/>
          </a:xfrm>
        </p:grpSpPr>
        <p:sp>
          <p:nvSpPr>
            <p:cNvPr id="3087" name="Rectangle 15"/>
            <p:cNvSpPr>
              <a:spLocks noChangeArrowheads="1"/>
            </p:cNvSpPr>
            <p:nvPr/>
          </p:nvSpPr>
          <p:spPr bwMode="auto">
            <a:xfrm>
              <a:off x="392" y="1950"/>
              <a:ext cx="1916" cy="1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 dirty="0"/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392" y="3246"/>
              <a:ext cx="1916" cy="1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2400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90" name="Rectangle 18"/>
            <p:cNvSpPr>
              <a:spLocks noChangeArrowheads="1"/>
            </p:cNvSpPr>
            <p:nvPr/>
          </p:nvSpPr>
          <p:spPr bwMode="auto">
            <a:xfrm>
              <a:off x="4424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53546" y="1218721"/>
            <a:ext cx="1020762" cy="1396752"/>
          </a:xfrm>
          <a:prstGeom prst="rect">
            <a:avLst/>
          </a:prstGeom>
          <a:solidFill>
            <a:srgbClr val="EB008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3108" tIns="40074" rIns="63108" bIns="40074" anchor="ctr"/>
          <a:lstStyle/>
          <a:p>
            <a:pPr algn="ctr" defTabSz="872436">
              <a:lnSpc>
                <a:spcPts val="1227"/>
              </a:lnSpc>
              <a:spcAft>
                <a:spcPct val="0"/>
              </a:spcAft>
            </a:pP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Place image</a:t>
            </a:r>
            <a:b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</a:b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5E154-C36B-4916-89DB-559FFC88E8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24313" y="7331868"/>
            <a:ext cx="788987" cy="126489"/>
          </a:xfrm>
        </p:spPr>
        <p:txBody>
          <a:bodyPr/>
          <a:lstStyle/>
          <a:p>
            <a:pPr>
              <a:defRPr/>
            </a:pPr>
            <a:r>
              <a:rPr lang="nl-NL" dirty="0"/>
              <a:t>V3_January 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F317E-178F-43C9-9AAF-46FB35887823}"/>
              </a:ext>
            </a:extLst>
          </p:cNvPr>
          <p:cNvSpPr txBox="1"/>
          <p:nvPr/>
        </p:nvSpPr>
        <p:spPr>
          <a:xfrm>
            <a:off x="2984500" y="351631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Template for PP and Loadset">
  <a:themeElements>
    <a:clrScheme name="Proposal Template for PP and Loadset 1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7F7E82"/>
      </a:accent1>
      <a:accent2>
        <a:srgbClr val="FFE600"/>
      </a:accent2>
      <a:accent3>
        <a:srgbClr val="FFFFFF"/>
      </a:accent3>
      <a:accent4>
        <a:srgbClr val="000000"/>
      </a:accent4>
      <a:accent5>
        <a:srgbClr val="C0C0C1"/>
      </a:accent5>
      <a:accent6>
        <a:srgbClr val="E7D000"/>
      </a:accent6>
      <a:hlink>
        <a:srgbClr val="A5A4A7"/>
      </a:hlink>
      <a:folHlink>
        <a:srgbClr val="CCCBCD"/>
      </a:folHlink>
    </a:clrScheme>
    <a:fontScheme name="Proposal Template for PP and Loadset">
      <a:majorFont>
        <a:latin typeface="EYInterstate"/>
        <a:ea typeface=""/>
        <a:cs typeface="Arial"/>
      </a:majorFont>
      <a:minorFont>
        <a:latin typeface="EYIntersta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posal Template for PP and Loadset 1">
        <a:dk1>
          <a:srgbClr val="000000"/>
        </a:dk1>
        <a:lt1>
          <a:srgbClr val="FFFFFF"/>
        </a:lt1>
        <a:dk2>
          <a:srgbClr val="000000"/>
        </a:dk2>
        <a:lt2>
          <a:srgbClr val="F2F2F2"/>
        </a:lt2>
        <a:accent1>
          <a:srgbClr val="7F7E82"/>
        </a:accent1>
        <a:accent2>
          <a:srgbClr val="FFE600"/>
        </a:accent2>
        <a:accent3>
          <a:srgbClr val="FFFFFF"/>
        </a:accent3>
        <a:accent4>
          <a:srgbClr val="000000"/>
        </a:accent4>
        <a:accent5>
          <a:srgbClr val="C0C0C1"/>
        </a:accent5>
        <a:accent6>
          <a:srgbClr val="E7D000"/>
        </a:accent6>
        <a:hlink>
          <a:srgbClr val="A5A4A7"/>
        </a:hlink>
        <a:folHlink>
          <a:srgbClr val="CCCBC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267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Unicode MS</vt:lpstr>
      <vt:lpstr>EYInterstate</vt:lpstr>
      <vt:lpstr>EYInterstate Light</vt:lpstr>
      <vt:lpstr>EYInterstate Regular</vt:lpstr>
      <vt:lpstr>Proposal Template for PP and Loadset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Khush Khan</dc:creator>
  <cp:lastModifiedBy>FARIS ALGHAMDI</cp:lastModifiedBy>
  <cp:revision>85</cp:revision>
  <dcterms:created xsi:type="dcterms:W3CDTF">2004-06-10T11:54:09Z</dcterms:created>
  <dcterms:modified xsi:type="dcterms:W3CDTF">2026-02-06T13:27:59Z</dcterms:modified>
</cp:coreProperties>
</file>