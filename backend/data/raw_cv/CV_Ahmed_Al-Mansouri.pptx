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"/>
  </p:notesMasterIdLst>
  <p:handoutMasterIdLst>
    <p:handoutMasterId r:id="rId4"/>
  </p:handoutMasterIdLst>
  <p:sldIdLst>
    <p:sldId id="272" r:id="rId2"/>
  </p:sldIdLst>
  <p:sldSz cx="10693400" cy="7561263"/>
  <p:notesSz cx="6731000" cy="9855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32">
          <p15:clr>
            <a:srgbClr val="A4A3A4"/>
          </p15:clr>
        </p15:guide>
        <p15:guide id="2" orient="horz" pos="797">
          <p15:clr>
            <a:srgbClr val="A4A3A4"/>
          </p15:clr>
        </p15:guide>
        <p15:guide id="3" orient="horz" pos="1585">
          <p15:clr>
            <a:srgbClr val="A4A3A4"/>
          </p15:clr>
        </p15:guide>
        <p15:guide id="4" pos="392">
          <p15:clr>
            <a:srgbClr val="A4A3A4"/>
          </p15:clr>
        </p15:guide>
        <p15:guide id="5" pos="6584">
          <p15:clr>
            <a:srgbClr val="A4A3A4"/>
          </p15:clr>
        </p15:guide>
        <p15:guide id="6" pos="4432">
          <p15:clr>
            <a:srgbClr val="A4A3A4"/>
          </p15:clr>
        </p15:guide>
        <p15:guide id="7" pos="6355">
          <p15:clr>
            <a:srgbClr val="A4A3A4"/>
          </p15:clr>
        </p15:guide>
        <p15:guide id="8" pos="2308">
          <p15:clr>
            <a:srgbClr val="A4A3A4"/>
          </p15:clr>
        </p15:guide>
        <p15:guide id="9" pos="2414">
          <p15:clr>
            <a:srgbClr val="A4A3A4"/>
          </p15:clr>
        </p15:guide>
        <p15:guide id="10" pos="432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4">
          <p15:clr>
            <a:srgbClr val="A4A3A4"/>
          </p15:clr>
        </p15:guide>
        <p15:guide id="2" pos="212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3399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6388" autoAdjust="0"/>
    <p:restoredTop sz="94660"/>
  </p:normalViewPr>
  <p:slideViewPr>
    <p:cSldViewPr>
      <p:cViewPr varScale="1">
        <p:scale>
          <a:sx n="95" d="100"/>
          <a:sy n="95" d="100"/>
        </p:scale>
        <p:origin x="2286" y="90"/>
      </p:cViewPr>
      <p:guideLst>
        <p:guide orient="horz" pos="232"/>
        <p:guide orient="horz" pos="797"/>
        <p:guide orient="horz" pos="1585"/>
        <p:guide pos="392"/>
        <p:guide pos="6584"/>
        <p:guide pos="4432"/>
        <p:guide pos="6355"/>
        <p:guide pos="2308"/>
        <p:guide pos="2414"/>
        <p:guide pos="432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88" y="-90"/>
      </p:cViewPr>
      <p:guideLst>
        <p:guide orient="horz" pos="3104"/>
        <p:guide pos="212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3175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3175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D7DC1266-84EF-4BB9-AC61-3725FA4A5D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50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3175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52475" y="739775"/>
            <a:ext cx="5226050" cy="3695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681538"/>
            <a:ext cx="5383212" cy="443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3175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6FA51F0D-3820-4836-BED1-0D06DBCBBD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499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688" y="2349500"/>
            <a:ext cx="9090025" cy="16208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3375" y="4284663"/>
            <a:ext cx="7486650" cy="1931987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B1E85D-5E57-4D55-8AAE-C97F24AAF1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4CB4E-7F4C-4750-8CA4-1FAFB2D39D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550" y="4859338"/>
            <a:ext cx="9090025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550" y="3205163"/>
            <a:ext cx="9090025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981BCD-D44F-47C1-8F59-FDD2D4C61B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1404938"/>
            <a:ext cx="4656137" cy="5399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9725" y="1404938"/>
            <a:ext cx="4656138" cy="5399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6A8DC-D751-412B-8874-2E219B795A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303213"/>
            <a:ext cx="9623425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88" y="1692275"/>
            <a:ext cx="4724400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88" y="2397125"/>
            <a:ext cx="4724400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2425" y="1692275"/>
            <a:ext cx="472598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2425" y="2397125"/>
            <a:ext cx="4725988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8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32C11A-37A5-4794-841B-95CEB12C8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D152D-FFED-4E3F-B320-CAD97AA612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03DEA-536E-4CB3-89D0-C8E1A5D9E4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301625"/>
            <a:ext cx="3517900" cy="128111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1475" y="301625"/>
            <a:ext cx="5976938" cy="64531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88" y="1582738"/>
            <a:ext cx="3517900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9BE9A2-7E65-4115-81B9-6E7BE7C9D5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500" y="5292725"/>
            <a:ext cx="64166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5500" y="676275"/>
            <a:ext cx="6416675" cy="45354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5500" y="5918200"/>
            <a:ext cx="6416675" cy="887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41952-34B0-46C5-A980-E862FCFBF6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B56BCF-FF2D-4050-BDC7-A97D84A601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10488" y="373063"/>
            <a:ext cx="2365375" cy="64309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373063"/>
            <a:ext cx="6946900" cy="6430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1FC427-E3EB-456A-9992-7DF9B46C20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32225" y="373063"/>
            <a:ext cx="6243638" cy="89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Headline 1 (Interstate 24pt)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611188" y="1404938"/>
            <a:ext cx="9464675" cy="539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72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 (Interstate 10pt)</a:t>
            </a:r>
          </a:p>
          <a:p>
            <a:pPr lvl="1"/>
            <a:r>
              <a:rPr lang="en-US"/>
              <a:t>Headline 2 (Interstate bold 14pt)</a:t>
            </a:r>
          </a:p>
          <a:p>
            <a:pPr lvl="3"/>
            <a:r>
              <a:rPr lang="en-US"/>
              <a:t>Bullet 1 (Interstate 10pt)</a:t>
            </a:r>
          </a:p>
          <a:p>
            <a:pPr lvl="4"/>
            <a:r>
              <a:rPr lang="en-US"/>
              <a:t>Bullet 2 (Interstate 10pt)</a:t>
            </a:r>
          </a:p>
          <a:p>
            <a:pPr lvl="2"/>
            <a:r>
              <a:rPr lang="en-US"/>
              <a:t>Headline 3 (Interstate bold 12pt)</a:t>
            </a:r>
          </a:p>
        </p:txBody>
      </p:sp>
      <p:sp>
        <p:nvSpPr>
          <p:cNvPr id="20502" name="Rectangle 22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833813" y="7065963"/>
            <a:ext cx="5437187" cy="106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buClr>
                <a:srgbClr val="7F7E82"/>
              </a:buClr>
              <a:buFont typeface="EYInterstate" pitchFamily="2" charset="0"/>
              <a:buNone/>
              <a:defRPr sz="700" b="1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defRPr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20503" name="Rectangle 23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9402763" y="7065963"/>
            <a:ext cx="673100" cy="106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>
              <a:buClr>
                <a:srgbClr val="7F7E82"/>
              </a:buClr>
              <a:buFont typeface="EYInterstate" pitchFamily="2" charset="0"/>
              <a:buNone/>
              <a:defRPr sz="70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defRPr>
            </a:lvl1pPr>
          </a:lstStyle>
          <a:p>
            <a:pPr>
              <a:defRPr/>
            </a:pPr>
            <a:fld id="{383F8ED6-4694-40B3-88EF-B7562E9CD0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sldNum="0" hdr="0" dt="0"/>
  <p:txStyles>
    <p:titleStyle>
      <a:lvl1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2pPr>
      <a:lvl3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3pPr>
      <a:lvl4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4pPr>
      <a:lvl5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5pPr>
      <a:lvl6pPr marL="4572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6pPr>
      <a:lvl7pPr marL="9144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7pPr>
      <a:lvl8pPr marL="13716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8pPr>
      <a:lvl9pPr marL="18288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9pPr>
    </p:titleStyle>
    <p:bodyStyle>
      <a:lvl1pPr marL="342900" indent="-342900" algn="l" defTabSz="995363" rtl="0" eaLnBrk="0" fontAlgn="base" hangingPunct="0">
        <a:spcBef>
          <a:spcPct val="0"/>
        </a:spcBef>
        <a:spcAft>
          <a:spcPct val="40000"/>
        </a:spcAft>
        <a:buClr>
          <a:srgbClr val="FFD200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ea typeface="+mn-ea"/>
          <a:cs typeface="+mn-cs"/>
        </a:defRPr>
      </a:lvl1pPr>
      <a:lvl2pPr marL="1588" indent="455613" algn="l" defTabSz="995363" rtl="0" eaLnBrk="0" fontAlgn="base" hangingPunct="0">
        <a:spcBef>
          <a:spcPct val="20000"/>
        </a:spcBef>
        <a:spcAft>
          <a:spcPct val="40000"/>
        </a:spcAft>
        <a:buClr>
          <a:srgbClr val="FFD200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500" b="1">
          <a:solidFill>
            <a:schemeClr val="tx2"/>
          </a:solidFill>
          <a:latin typeface="+mn-lt"/>
          <a:cs typeface="+mn-cs"/>
        </a:defRPr>
      </a:lvl2pPr>
      <a:lvl3pPr marL="3175" indent="911225" algn="l" defTabSz="995363" rtl="0" eaLnBrk="0" fontAlgn="base" hangingPunct="0">
        <a:spcBef>
          <a:spcPct val="20000"/>
        </a:spcBef>
        <a:spcAft>
          <a:spcPct val="40000"/>
        </a:spcAft>
        <a:buClr>
          <a:schemeClr val="tx2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300" b="1">
          <a:solidFill>
            <a:schemeClr val="accent1"/>
          </a:solidFill>
          <a:latin typeface="+mn-lt"/>
          <a:cs typeface="+mn-cs"/>
        </a:defRPr>
      </a:lvl3pPr>
      <a:lvl4pPr marL="190500" indent="-185738" algn="l" defTabSz="995363" rtl="0" eaLnBrk="0" fontAlgn="base" hangingPunct="0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4pPr>
      <a:lvl5pPr marL="352425" indent="-160338" algn="l" defTabSz="995363" rtl="0" eaLnBrk="0" fontAlgn="base" hangingPunct="0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5pPr>
      <a:lvl6pPr marL="8096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6pPr>
      <a:lvl7pPr marL="12668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7pPr>
      <a:lvl8pPr marL="17240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8pPr>
      <a:lvl9pPr marL="21812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42913" y="1208088"/>
            <a:ext cx="9652000" cy="1429543"/>
          </a:xfrm>
          <a:prstGeom prst="rect">
            <a:avLst/>
          </a:prstGeom>
          <a:solidFill>
            <a:srgbClr val="FFE600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7031038" y="2974330"/>
            <a:ext cx="306070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Presented AI strategy and progress updates to the Board of Directors and executive leadership.</a:t>
            </a:r>
          </a:p>
          <a:p>
            <a:r>
              <a:rPr sz="1200"/>
              <a:t>Negotiated and managed partnerships with leading AI technology vendors and cloud providers.</a:t>
            </a:r>
          </a:p>
          <a:p>
            <a:r>
              <a:rPr sz="1200"/>
              <a:t>Implemented AI governance frameworks to ensure the responsible and ethical deployment of AI models.</a:t>
            </a:r>
          </a:p>
          <a:p>
            <a:r>
              <a:rPr sz="1200"/>
              <a:t>Drove the adoption of MLOps practices to ensure the scalability and reliability of production AI systems.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601663" y="2974330"/>
            <a:ext cx="3060700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 dirty="0"/>
          </a:p>
          <a:p>
            <a:r>
              <a:rPr sz="1200" dirty="0"/>
              <a:t>Ahmed is a Manager in the Data &amp; AI practice, leading large-scale AI transformation programs in the Energy sector.</a:t>
            </a:r>
          </a:p>
          <a:p>
            <a:r>
              <a:rPr sz="1200" dirty="0"/>
              <a:t>He specializes in AI strategy, agile delivery, and bridging the gap between technical teams and business leadership.</a:t>
            </a:r>
          </a:p>
          <a:p>
            <a:r>
              <a:rPr sz="1200" dirty="0"/>
              <a:t>Ahmed holds an MSc in Artificial Intelligence from Stanford University and a BSc from KFUPM.</a:t>
            </a: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3816350" y="2974330"/>
            <a:ext cx="305435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Managed a multi-million dollar AI transformation program for a major oil &amp; gas company, delivering 10+ AI use cases.</a:t>
            </a:r>
          </a:p>
          <a:p>
            <a:r>
              <a:rPr sz="1200"/>
              <a:t>Led a cross-functional team of 15+ data scientists, engineers, and consultants in an agile environment.</a:t>
            </a:r>
          </a:p>
          <a:p>
            <a:r>
              <a:rPr sz="1200"/>
              <a:t>Developed an enterprise-wide AI roadmap, prioritizing initiatives based on feasibility and business value.</a:t>
            </a:r>
          </a:p>
          <a:p>
            <a:r>
              <a:rPr sz="1200"/>
              <a:t>Established an AI Center of Excellence (CoE) to standardize tools, processes, and best practices.</a:t>
            </a: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593725" y="1311275"/>
            <a:ext cx="719138" cy="9350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72000" rIns="72000" anchor="ctr"/>
          <a:lstStyle/>
          <a:p>
            <a:pPr algn="ctr" defTabSz="995363">
              <a:lnSpc>
                <a:spcPts val="1400"/>
              </a:lnSpc>
            </a:pPr>
            <a:br>
              <a:rPr lang="en-US" sz="800" dirty="0">
                <a:solidFill>
                  <a:srgbClr val="FF0000"/>
                </a:solidFill>
                <a:latin typeface="EYInterstate Regular" pitchFamily="-16" charset="0"/>
              </a:rPr>
            </a:br>
            <a:endParaRPr lang="en-US" sz="800" dirty="0">
              <a:solidFill>
                <a:srgbClr val="FF0000"/>
              </a:solidFill>
              <a:latin typeface="EYInterstate Regular" pitchFamily="-16" charset="0"/>
            </a:endParaRPr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1644799" y="1460877"/>
            <a:ext cx="2200275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pPr defTabSz="995363">
              <a:tabLst>
                <a:tab pos="442913" algn="l"/>
              </a:tabLst>
            </a:pPr>
            <a:r>
              <a:rPr lang="en-US" sz="1100" b="1" dirty="0">
                <a:solidFill>
                  <a:srgbClr val="FF0000"/>
                </a:solidFill>
                <a:latin typeface="+mn-lt"/>
              </a:rPr>
              <a:t>Ahmed Al-Mansouri</a:t>
            </a:r>
          </a:p>
          <a:p>
            <a:pPr defTabSz="995363">
              <a:tabLst>
                <a:tab pos="442913" algn="l"/>
              </a:tabLst>
            </a:pPr>
            <a:r>
              <a:rPr lang="en-US" sz="1100">
                <a:solidFill>
                  <a:srgbClr val="FF0000"/>
                </a:solidFill>
                <a:latin typeface="+mn-lt"/>
              </a:rPr>
              <a:t>Manager</a:t>
            </a:r>
            <a:endParaRPr lang="en-US" sz="11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1648605" y="1918077"/>
            <a:ext cx="2631295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defTabSz="995363">
              <a:tabLst>
                <a:tab pos="442913" algn="l"/>
              </a:tabLst>
            </a:pPr>
            <a:r>
              <a:rPr lang="en-US" sz="1100" dirty="0">
                <a:solidFill>
                  <a:srgbClr val="000000"/>
                </a:solidFill>
                <a:latin typeface="EYInterstate Light" pitchFamily="2" charset="0"/>
              </a:rPr>
              <a:t>Mobile: </a:t>
            </a:r>
            <a:r>
              <a:rPr lang="en-US" sz="1100" dirty="0">
                <a:solidFill>
                  <a:srgbClr val="FF0000"/>
                </a:solidFill>
                <a:latin typeface="EYInterstate" pitchFamily="2" charset="0"/>
                <a:sym typeface="Arial Unicode MS" pitchFamily="34" charset="-128"/>
              </a:rPr>
              <a:t>+971(0) 50 999 0000</a:t>
            </a:r>
            <a:endParaRPr lang="en-US" sz="1100" dirty="0">
              <a:solidFill>
                <a:srgbClr val="FF0000"/>
              </a:solidFill>
              <a:latin typeface="EYInterstate Light" pitchFamily="2" charset="0"/>
            </a:endParaRPr>
          </a:p>
          <a:p>
            <a:pPr defTabSz="995363">
              <a:tabLst>
                <a:tab pos="442913" algn="l"/>
              </a:tabLst>
            </a:pPr>
            <a:r>
              <a:rPr lang="en-US" sz="1100" dirty="0">
                <a:solidFill>
                  <a:srgbClr val="000000"/>
                </a:solidFill>
                <a:latin typeface="EYInterstate Light" pitchFamily="2" charset="0"/>
              </a:rPr>
              <a:t>Email:	  </a:t>
            </a:r>
            <a:r>
              <a:rPr lang="en-US" sz="1100" dirty="0">
                <a:solidFill>
                  <a:srgbClr val="FF0000"/>
                </a:solidFill>
                <a:latin typeface="EYInterstate" pitchFamily="2" charset="0"/>
              </a:rPr>
              <a:t>ahmed.almansouri@ae.ey.com</a:t>
            </a:r>
            <a:r>
              <a:rPr lang="en-US" sz="1100" dirty="0">
                <a:solidFill>
                  <a:srgbClr val="000000"/>
                </a:solidFill>
                <a:latin typeface="EYInterstate" pitchFamily="2" charset="0"/>
              </a:rPr>
              <a:t> </a:t>
            </a:r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gray">
          <a:xfrm>
            <a:off x="622300" y="2743993"/>
            <a:ext cx="30416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 dirty="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Background</a:t>
            </a:r>
          </a:p>
        </p:txBody>
      </p:sp>
      <p:sp>
        <p:nvSpPr>
          <p:cNvPr id="3083" name="Rectangle 11"/>
          <p:cNvSpPr>
            <a:spLocks noChangeArrowheads="1"/>
          </p:cNvSpPr>
          <p:nvPr/>
        </p:nvSpPr>
        <p:spPr bwMode="gray">
          <a:xfrm>
            <a:off x="3827463" y="2743993"/>
            <a:ext cx="30400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Professional experience</a:t>
            </a:r>
          </a:p>
        </p:txBody>
      </p:sp>
      <p:sp>
        <p:nvSpPr>
          <p:cNvPr id="3084" name="Rectangle 12"/>
          <p:cNvSpPr>
            <a:spLocks noChangeArrowheads="1"/>
          </p:cNvSpPr>
          <p:nvPr/>
        </p:nvSpPr>
        <p:spPr bwMode="gray">
          <a:xfrm>
            <a:off x="622300" y="4695031"/>
            <a:ext cx="30416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 dirty="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Skills</a:t>
            </a:r>
          </a:p>
        </p:txBody>
      </p:sp>
      <p:sp>
        <p:nvSpPr>
          <p:cNvPr id="3085" name="Rectangle 13"/>
          <p:cNvSpPr>
            <a:spLocks noChangeArrowheads="1"/>
          </p:cNvSpPr>
          <p:nvPr/>
        </p:nvSpPr>
        <p:spPr bwMode="auto">
          <a:xfrm>
            <a:off x="601663" y="4979987"/>
            <a:ext cx="306070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SzPct val="100000"/>
              <a:buFont typeface="Arial" pitchFamily="34" charset="0"/>
              <a:buChar char="►"/>
              <a:tabLst>
                <a:tab pos="269875" algn="l"/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AI Strategy &amp; Roadmap development for enterprise transformation</a:t>
            </a:r>
          </a:p>
          <a:p>
            <a:r>
              <a:rPr sz="1200"/>
              <a:t>Agile Delivery Management (Scrum, Kanban, SAFe)</a:t>
            </a:r>
          </a:p>
          <a:p>
            <a:r>
              <a:rPr sz="1200"/>
              <a:t>Executive Communication and Stakeholder Management</a:t>
            </a:r>
          </a:p>
          <a:p>
            <a:r>
              <a:rPr sz="1200"/>
              <a:t>Business-to-technical translation and use-case prioritization</a:t>
            </a:r>
          </a:p>
          <a:p>
            <a:r>
              <a:rPr sz="1200"/>
              <a:t>AI Governance, Ethics, and Risk Management</a:t>
            </a:r>
          </a:p>
          <a:p>
            <a:r>
              <a:rPr sz="1200"/>
              <a:t>Budgeting and ROI analysis for AI investments</a:t>
            </a:r>
          </a:p>
        </p:txBody>
      </p:sp>
      <p:grpSp>
        <p:nvGrpSpPr>
          <p:cNvPr id="3086" name="Group 14"/>
          <p:cNvGrpSpPr>
            <a:grpSpLocks/>
          </p:cNvGrpSpPr>
          <p:nvPr/>
        </p:nvGrpSpPr>
        <p:grpSpPr bwMode="auto">
          <a:xfrm>
            <a:off x="622300" y="3095625"/>
            <a:ext cx="9442450" cy="3698875"/>
            <a:chOff x="392" y="1950"/>
            <a:chExt cx="5948" cy="2330"/>
          </a:xfrm>
        </p:grpSpPr>
        <p:sp>
          <p:nvSpPr>
            <p:cNvPr id="3087" name="Rectangle 15"/>
            <p:cNvSpPr>
              <a:spLocks noChangeArrowheads="1"/>
            </p:cNvSpPr>
            <p:nvPr/>
          </p:nvSpPr>
          <p:spPr bwMode="auto">
            <a:xfrm>
              <a:off x="392" y="1950"/>
              <a:ext cx="1916" cy="1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 dirty="0"/>
            </a:p>
          </p:txBody>
        </p:sp>
        <p:sp>
          <p:nvSpPr>
            <p:cNvPr id="3088" name="Rectangle 16"/>
            <p:cNvSpPr>
              <a:spLocks noChangeArrowheads="1"/>
            </p:cNvSpPr>
            <p:nvPr/>
          </p:nvSpPr>
          <p:spPr bwMode="auto">
            <a:xfrm>
              <a:off x="392" y="3246"/>
              <a:ext cx="1916" cy="10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  <p:sp>
          <p:nvSpPr>
            <p:cNvPr id="3089" name="Rectangle 17"/>
            <p:cNvSpPr>
              <a:spLocks noChangeArrowheads="1"/>
            </p:cNvSpPr>
            <p:nvPr/>
          </p:nvSpPr>
          <p:spPr bwMode="auto">
            <a:xfrm>
              <a:off x="2400" y="1950"/>
              <a:ext cx="1916" cy="2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  <p:sp>
          <p:nvSpPr>
            <p:cNvPr id="3090" name="Rectangle 18"/>
            <p:cNvSpPr>
              <a:spLocks noChangeArrowheads="1"/>
            </p:cNvSpPr>
            <p:nvPr/>
          </p:nvSpPr>
          <p:spPr bwMode="auto">
            <a:xfrm>
              <a:off x="4424" y="1950"/>
              <a:ext cx="1916" cy="2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</p:grp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453546" y="1218721"/>
            <a:ext cx="1020762" cy="1396752"/>
          </a:xfrm>
          <a:prstGeom prst="rect">
            <a:avLst/>
          </a:prstGeom>
          <a:solidFill>
            <a:srgbClr val="EB008C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63108" tIns="40074" rIns="63108" bIns="40074" anchor="ctr"/>
          <a:lstStyle/>
          <a:p>
            <a:pPr algn="ctr" defTabSz="872436">
              <a:lnSpc>
                <a:spcPts val="1227"/>
              </a:lnSpc>
              <a:spcAft>
                <a:spcPct val="0"/>
              </a:spcAft>
            </a:pPr>
            <a: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  <a:t>Place image</a:t>
            </a:r>
            <a:b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</a:br>
            <a: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  <a:t>here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75E154-C36B-4916-89DB-559FFC88E8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24313" y="7331868"/>
            <a:ext cx="788987" cy="126489"/>
          </a:xfrm>
        </p:spPr>
        <p:txBody>
          <a:bodyPr/>
          <a:lstStyle/>
          <a:p>
            <a:pPr>
              <a:defRPr/>
            </a:pPr>
            <a:r>
              <a:rPr lang="nl-NL" dirty="0"/>
              <a:t>V3_January 2021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5F317E-178F-43C9-9AAF-46FB35887823}"/>
              </a:ext>
            </a:extLst>
          </p:cNvPr>
          <p:cNvSpPr txBox="1"/>
          <p:nvPr/>
        </p:nvSpPr>
        <p:spPr>
          <a:xfrm>
            <a:off x="2984500" y="351631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posal Template for PP and Loadset">
  <a:themeElements>
    <a:clrScheme name="Proposal Template for PP and Loadset 1">
      <a:dk1>
        <a:srgbClr val="000000"/>
      </a:dk1>
      <a:lt1>
        <a:srgbClr val="FFFFFF"/>
      </a:lt1>
      <a:dk2>
        <a:srgbClr val="000000"/>
      </a:dk2>
      <a:lt2>
        <a:srgbClr val="F2F2F2"/>
      </a:lt2>
      <a:accent1>
        <a:srgbClr val="7F7E82"/>
      </a:accent1>
      <a:accent2>
        <a:srgbClr val="FFE600"/>
      </a:accent2>
      <a:accent3>
        <a:srgbClr val="FFFFFF"/>
      </a:accent3>
      <a:accent4>
        <a:srgbClr val="000000"/>
      </a:accent4>
      <a:accent5>
        <a:srgbClr val="C0C0C1"/>
      </a:accent5>
      <a:accent6>
        <a:srgbClr val="E7D000"/>
      </a:accent6>
      <a:hlink>
        <a:srgbClr val="A5A4A7"/>
      </a:hlink>
      <a:folHlink>
        <a:srgbClr val="CCCBCD"/>
      </a:folHlink>
    </a:clrScheme>
    <a:fontScheme name="Proposal Template for PP and Loadset">
      <a:majorFont>
        <a:latin typeface="EYInterstate"/>
        <a:ea typeface=""/>
        <a:cs typeface="Arial"/>
      </a:majorFont>
      <a:minorFont>
        <a:latin typeface="EYInterstat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posal Template for PP and Loadset 1">
        <a:dk1>
          <a:srgbClr val="000000"/>
        </a:dk1>
        <a:lt1>
          <a:srgbClr val="FFFFFF"/>
        </a:lt1>
        <a:dk2>
          <a:srgbClr val="000000"/>
        </a:dk2>
        <a:lt2>
          <a:srgbClr val="F2F2F2"/>
        </a:lt2>
        <a:accent1>
          <a:srgbClr val="7F7E82"/>
        </a:accent1>
        <a:accent2>
          <a:srgbClr val="FFE600"/>
        </a:accent2>
        <a:accent3>
          <a:srgbClr val="FFFFFF"/>
        </a:accent3>
        <a:accent4>
          <a:srgbClr val="000000"/>
        </a:accent4>
        <a:accent5>
          <a:srgbClr val="C0C0C1"/>
        </a:accent5>
        <a:accent6>
          <a:srgbClr val="E7D000"/>
        </a:accent6>
        <a:hlink>
          <a:srgbClr val="A5A4A7"/>
        </a:hlink>
        <a:folHlink>
          <a:srgbClr val="CCCBC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3151</TotalTime>
  <Words>273</Words>
  <Application>Microsoft Office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Unicode MS</vt:lpstr>
      <vt:lpstr>EYInterstate</vt:lpstr>
      <vt:lpstr>EYInterstate Light</vt:lpstr>
      <vt:lpstr>EYInterstate Regular</vt:lpstr>
      <vt:lpstr>Proposal Template for PP and Loadset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Khush Khan</dc:creator>
  <cp:lastModifiedBy>FARIS ALGHAMDI</cp:lastModifiedBy>
  <cp:revision>85</cp:revision>
  <dcterms:created xsi:type="dcterms:W3CDTF">2004-06-10T11:54:09Z</dcterms:created>
  <dcterms:modified xsi:type="dcterms:W3CDTF">2026-02-06T13:28:41Z</dcterms:modified>
</cp:coreProperties>
</file>